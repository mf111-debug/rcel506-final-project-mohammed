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021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Localization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Progress Toward 50% Defense Localization by 2030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51206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40156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RCEL 506 — Applied Statistics and Data Science for Engineering Leaders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University  |  Mohammed Farran  | 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56032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179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256032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 Reported (2024)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Corrections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After: What Changed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657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05840"/>
            <a:ext cx="3017520" cy="3657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005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005840"/>
            <a:ext cx="3017520" cy="3657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0" y="1005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28600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453896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frequency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417320"/>
            <a:ext cx="301752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24912" y="1453896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only (25 points)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417320"/>
            <a:ext cx="301752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25312" y="1453896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(180 points)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228600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975104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1938528"/>
            <a:ext cx="301752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24912" y="1975104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SIPRI TIV vs USD — mismatch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1938528"/>
            <a:ext cx="301752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25312" y="1975104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vs USD — fixed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59736"/>
            <a:ext cx="228600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249631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2459736"/>
            <a:ext cx="301752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24912" y="2496312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(SA + Turkey + Korea)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2459736"/>
            <a:ext cx="301752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25312" y="2496312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only — focused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228600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017520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2980944"/>
            <a:ext cx="301752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24912" y="3017520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built yet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2980944"/>
            <a:ext cx="301752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25312" y="3017520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models: Rolling Mean, LR, Prophet 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02152"/>
            <a:ext cx="228600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3538728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51760" y="3502152"/>
            <a:ext cx="301752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24912" y="3538728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 reported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3502152"/>
            <a:ext cx="3017520" cy="475488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25312" y="3538728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MAE, Residual plots 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228600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" y="4059936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variable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51760" y="4023360"/>
            <a:ext cx="301752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24912" y="4059936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(TIV/USD) — unreliable ratio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4023360"/>
            <a:ext cx="3017520" cy="475488"/>
          </a:xfrm>
          <a:prstGeom prst="rect">
            <a:avLst/>
          </a:prstGeom>
          <a:solidFill>
            <a:srgbClr val="1F1F1F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25312" y="4059936"/>
            <a:ext cx="2871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USD / Spending USD — clean 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777240"/>
          </a:xfrm>
          <a:prstGeom prst="rect">
            <a:avLst/>
          </a:prstGeom>
          <a:solidFill>
            <a:srgbClr val="1A2A1A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Saudi Arabia's Progress Toward 50% Defense Localization by 2030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2743200" cy="22860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74320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 / MoD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localization progress and steer defense programs with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737360"/>
            <a:ext cx="2743200" cy="22860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27832" y="1737360"/>
            <a:ext cx="274320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/ Suppliers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22860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procurement gaps and build local capabilities strategically.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737360"/>
            <a:ext cx="2743200" cy="22860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4" y="1737360"/>
            <a:ext cx="274320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18504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Policy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18504" y="22860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foreign dependency, retain economic value inside Saudi Arabia.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893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454158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Localization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0913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60320" y="454158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Localization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0893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63440" y="454158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Target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40893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yrs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66560" y="454556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to 2030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" y="482187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9E9E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4810340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206240" cy="41605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45720"/>
          </a:xfrm>
          <a:prstGeom prst="rect">
            <a:avLst/>
          </a:prstGeom>
          <a:solidFill>
            <a:srgbClr val="4A9FD5"/>
          </a:solidFill>
          <a:ln w="12700">
            <a:solidFill>
              <a:srgbClr val="4A9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Comtrade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7539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data — exports to Saudi Arabia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Chapter 93 (Arms &amp; Ammunition only)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| 2010–2024 | USD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Expenditure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2024 USD Millions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÷ 12 → Monthly | 2010–2024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Saudi Arabia does not self-report arms data.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data = exports reported by trading partners.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206240" cy="41605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20624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solidFill>
            <a:srgbClr val="1A2A1A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66420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Dependency % = (Arms Imports / Military Spending) × 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06040"/>
            <a:ext cx="1005840" cy="365760"/>
          </a:xfrm>
          <a:prstGeom prst="rect">
            <a:avLst/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2010 – Dec 2024  (180 months)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081528"/>
            <a:ext cx="1005840" cy="365760"/>
          </a:xfrm>
          <a:prstGeom prst="rect">
            <a:avLst/>
          </a:prstGeom>
          <a:solidFill>
            <a:srgbClr val="4A9FD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0815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3127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2011 – Dec 2022  (144 months)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557016"/>
            <a:ext cx="1005840" cy="365760"/>
          </a:xfrm>
          <a:prstGeom prst="rect">
            <a:avLst/>
          </a:prstGeom>
          <a:solidFill>
            <a:srgbClr val="C8F54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5570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36027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Dec 2024  (24 months)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4069080"/>
            <a:ext cx="3840480" cy="640080"/>
          </a:xfrm>
          <a:prstGeom prst="rect">
            <a:avLst/>
          </a:prstGeom>
          <a:solidFill>
            <a:srgbClr val="1A1A0A"/>
          </a:solidFill>
          <a:ln w="12700">
            <a:solidFill>
              <a:srgbClr val="55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4114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Jan 2011? </a:t>
            </a: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Lag_12 feature requires 12 months of lookback data. The first 12 rows of 2010 have no prior-year values and are dropped during feature engineering.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766409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(2010–2024)</a:t>
            </a:r>
            <a:endParaRPr lang="en-US" sz="2800" dirty="0"/>
          </a:p>
        </p:txBody>
      </p:sp>
      <p:pic>
        <p:nvPicPr>
          <p:cNvPr id="3" name="Image 0" descr="/home/claude/chart_histor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0"/>
            <a:ext cx="859536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389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10.85%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45902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2015 — Yemen Conflict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91840" y="4389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Launch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91840" y="4589493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2016 — policy shift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389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2024: 2.29%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4589493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77.4% reduction from peak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4818888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Models: Approach &amp; Rationale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2788920" cy="41605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54864"/>
          </a:xfrm>
          <a:prstGeom prst="rect">
            <a:avLst/>
          </a:prstGeom>
          <a:solidFill>
            <a:srgbClr val="E08020"/>
          </a:solidFill>
          <a:ln w="12700">
            <a:solidFill>
              <a:srgbClr val="E08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24688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 month = average of last 12 months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— pure historical average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minimum performance bar any model must beat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rubric as naive baseline comparison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788920" cy="41605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788920" cy="54864"/>
          </a:xfrm>
          <a:prstGeom prst="rect">
            <a:avLst/>
          </a:prstGeom>
          <a:solidFill>
            <a:srgbClr val="4A9FD5"/>
          </a:solidFill>
          <a:ln w="12700">
            <a:solidFill>
              <a:srgbClr val="4A9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868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993392"/>
            <a:ext cx="24688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model covered in class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Year, Month, Lag_1, Lag_3, Lag_12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Rolling_3 and Rolling_12 moving averages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611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Equation: y = m₁X₁ + m₂X₂ + ... +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777240"/>
            <a:ext cx="2788920" cy="41605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72200" y="777240"/>
            <a:ext cx="278892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868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1664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Time Series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993392"/>
            <a:ext cx="246888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2103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 by Facebook/Meta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by professor for this problem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1089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learns trend + yearly seasonality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611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long-term forecast to 2030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Comparison</a:t>
            </a:r>
            <a:endParaRPr lang="en-US" sz="2800" dirty="0"/>
          </a:p>
        </p:txBody>
      </p:sp>
      <p:pic>
        <p:nvPicPr>
          <p:cNvPr id="3" name="Image 0" descr="/home/claude/char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8368"/>
            <a:ext cx="5303520" cy="23774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685800"/>
          <a:ext cx="310896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F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F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F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F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274320" y="3154680"/>
            <a:ext cx="64008" cy="1737360"/>
          </a:xfrm>
          <a:prstGeom prst="rect">
            <a:avLst/>
          </a:prstGeom>
          <a:solidFill>
            <a:srgbClr val="4A9FD5"/>
          </a:solidFill>
          <a:ln w="12700">
            <a:solidFill>
              <a:srgbClr val="4A9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32461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502920" y="332901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0.47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Linear Regression explains 47% of the variation in arms import dependency. The remaining 53% reflects unpredictable geopolitical events, bulk shipment timing, and reporting delays.
</a:t>
            </a:r>
            <a:r>
              <a:rPr lang="en-US" sz="11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0.82%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Average prediction error of 0.82 percentage points — sufficient precision for strategic defense procurement planning.</a:t>
            </a:r>
          </a:p>
          <a:p>
            <a:r>
              <a:rPr lang="en-US" sz="11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0.60%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Mean absolute error of 0.60 percentage points, confirming consistent model accuracy with no extreme outliers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4894425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Actual − Predicted  |  Blue = Underestimated  |  Red = Overestimated</a:t>
            </a:r>
            <a:endParaRPr lang="en-US" sz="1100" dirty="0"/>
          </a:p>
        </p:txBody>
      </p:sp>
      <p:pic>
        <p:nvPicPr>
          <p:cNvPr id="4" name="Image 0" descr="/home/claude/chart_residuals_b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611880"/>
            <a:ext cx="420624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3611880"/>
            <a:ext cx="64008" cy="1325880"/>
          </a:xfrm>
          <a:prstGeom prst="rect">
            <a:avLst/>
          </a:prstGeom>
          <a:solidFill>
            <a:srgbClr val="4A9FD5"/>
          </a:solidFill>
          <a:ln w="12700">
            <a:solidFill>
              <a:srgbClr val="4A9F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Best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randomly mixed — no systematic pattern
</a:t>
            </a: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residual = 0.096% ≈ zero — no bias
</a:t>
            </a:r>
            <a:r>
              <a:rPr lang="en-US" sz="1100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0.82% — solid prediction accuracy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611880"/>
            <a:ext cx="420624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3611880"/>
            <a:ext cx="64008" cy="13258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— Structural Limitation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46320" y="3977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blue bars — systematic underestimation
</a:t>
            </a: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residual = 0.71% — consistently biased
</a:t>
            </a: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2015 Yemen spike distorted Prophet's trend learning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to 2030 &amp; Conclusion</a:t>
            </a:r>
            <a:endParaRPr lang="en-US" sz="2800" dirty="0"/>
          </a:p>
        </p:txBody>
      </p:sp>
      <p:pic>
        <p:nvPicPr>
          <p:cNvPr id="3" name="Image 0" descr="/home/claude/chart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8368"/>
            <a:ext cx="59436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777240"/>
            <a:ext cx="246888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804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10.85%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(May 2015)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0" y="1600200"/>
            <a:ext cx="246888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2.29%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0" y="19933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 (Actual)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423160"/>
            <a:ext cx="246888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0" y="2450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0" y="28163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Jan 2030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3246120"/>
            <a:ext cx="246888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3273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3639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from peak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475317"/>
            <a:ext cx="5999259" cy="1616798"/>
          </a:xfrm>
          <a:prstGeom prst="rect">
            <a:avLst/>
          </a:prstGeom>
          <a:solidFill>
            <a:srgbClr val="0D1A0D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3446793"/>
            <a:ext cx="52438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3926554"/>
            <a:ext cx="583228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arms import dependency declined 77.4% from its 2015 peak of 10.85% to 2.29% by December 2024.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Prophet forecast projects this ratio remaining stable and low through 2030 (~2.45%), consistent with GAMI's official localization progress from 4% (2018) to 24.89% (2024).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is on a positive trajectory toward its 50% goal, though the target remains ambitious.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Code Audit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45720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Farran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University — RCEL 506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200400" cy="1645920"/>
          </a:xfrm>
          <a:prstGeom prst="rect">
            <a:avLst/>
          </a:prstGeom>
          <a:solidFill>
            <a:srgbClr val="1C1C1C"/>
          </a:solidFill>
          <a:ln w="12700">
            <a:solidFill>
              <a:srgbClr val="C8F542"/>
            </a:solidFill>
            <a:prstDash val="solid"/>
          </a:ln>
          <a:effectLst>
            <a:outerShdw blurRad="1270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github.com/mf111-debug/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RCEL506-Saudi-Defense-Localization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926080"/>
            <a:ext cx="3200400" cy="16459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343019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343019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-0.11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42421" y="3726775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40782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0782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-1.15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Farran  |  RCEL 506  |  Rice University  |  April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899</Words>
  <Application>Microsoft Macintosh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Saudi Arabia Defense Localization Analysis</dc:title>
  <dc:subject>PptxGenJS Presentation</dc:subject>
  <dc:creator>Mohammed Farran</dc:creator>
  <cp:lastModifiedBy>Mohammed Farran</cp:lastModifiedBy>
  <cp:revision>2</cp:revision>
  <dcterms:created xsi:type="dcterms:W3CDTF">2026-04-25T03:09:01Z</dcterms:created>
  <dcterms:modified xsi:type="dcterms:W3CDTF">2026-04-25T22:56:03Z</dcterms:modified>
</cp:coreProperties>
</file>